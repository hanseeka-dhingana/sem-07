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5" d="100"/>
          <a:sy n="55" d="100"/>
        </p:scale>
        <p:origin x="102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D05B-B15B-BFDC-8D40-EC6A8EAD2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A15F9-2B3B-9D08-6092-C995B722C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6B8E0-D691-8997-3A82-D8F477A2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285B0-12C2-323E-A121-31F14580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E5657-AE79-E26A-B3D4-0F9370BA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7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7B14-F66F-BA16-11EA-AAB5EC0D4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AC26-88B9-F7A7-52DF-232E5366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94150-49C8-7114-6CCA-21250B58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E80DB-2C4C-9B5B-A6D1-701EF1A4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753BA-7E36-CCDC-B9DC-CCE517ED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2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57B4-837D-83F2-9074-A1DE317B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65A5D-73C5-F225-8524-B2937E2CF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2310F-9188-1BF8-7601-0DDF8B6F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BC2E1-A39F-F3E4-4B1C-0E3BD1AA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1553B-7C29-4A58-3B84-EA118086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4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EA64-F0D9-89BE-4AD4-CB9FB277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BA038-1A6E-8F87-65FC-59EEC8EC8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FB102-D6EF-E36E-5065-0C7F6179C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11645-8AA0-6A1D-D090-F36AEFC7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AC67C-5253-35C9-2F93-E96D118A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4893E-03F2-4744-CB60-7760BF8A6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6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2BE5-4EFD-242A-21E4-13A155109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C3165-62DA-6B2F-073E-47634A86B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6D6B0-3743-8D4E-9111-05EF462F6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D6041-2EB0-021D-655D-DE75049B3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22185-9835-4794-8717-724A04239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BF94A-081E-2CB9-8DF0-E09271140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1AB88-48BE-53A5-13BC-D6E86E40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F8A705-5004-5092-5DD8-2579E902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7C40-5B86-3B70-BE52-D86E848F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21530-5682-8EA1-7031-91311BE7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69D12-885E-F4EA-B8CE-1B455D51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6F256-DA69-E17C-52BF-F8F4F538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68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D5F874-13FD-657E-E49C-E28CE6BA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FEA7D-A33A-766E-8AAB-B01FEBD5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36336-0354-3126-07B1-798280FD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0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589E-03C2-AD33-4269-69305B36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3F350-233B-3745-0614-DF9F943D6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FFFA8-1DB8-00E7-EDCC-5CD007ECD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B5BE4-2D59-B3E8-0875-B354F05C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4F9A8-5B16-1489-50DF-26753C63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4331B-BA87-CE3D-9F3E-005E2249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83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E55D-5B9C-ED1D-BCDA-FE3714F6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C9790-DBF7-8D5A-3A3E-FAF8C2B25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A8E5C-1B68-0DFC-CCB9-626263E8C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76B68-98DA-58D0-BC58-C780D3F6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CE6D8-140B-5900-7EB2-999B64C88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F6D1E-D644-69D5-8178-176F45F2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0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9218-2F6D-96A8-10AB-1B16EC19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8BF0D-0A20-8D05-D874-4B546B4FF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FF82F-3800-EF1E-07B5-2A28346FA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90E1D-0CF1-4659-F4F9-3B7402C4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6416B-AF8D-43F3-7F1F-01A45F8B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2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AA046-DCE1-BA18-65A3-B8062B5F4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15A03-4C5E-D8FF-1B90-643B847D5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4EE4-B14D-9ED0-EFA2-02FFFEB9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2CF27-FAAF-77AD-D47A-693FACFB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10879-3884-F3EC-E501-C3A03C0F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38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F94F07-A1C3-65CE-C935-B9D17000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4B26E-EAB3-0262-DDBF-B36AC4AA2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BA0D5-177D-B999-8DE1-08F98D1C2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3ACC-46ED-453F-8105-3A0D4CC242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46D54-B63D-FB79-F83B-2B47795C9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3B4CF-68AB-878A-B280-05B45B6CF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82047-D7D5-42AC-B836-A33F7C5F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9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43EA-D319-2D32-4CC8-BB7B109E1C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LR Parsing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CAAE-48A1-D5F2-85EB-21C597416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r>
              <a:rPr lang="en-US" dirty="0"/>
              <a:t>Compiler Construction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FD43FA-6ACE-A777-6DD1-573E72DE0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68" y="201281"/>
            <a:ext cx="1658013" cy="165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51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CE29-88CC-01D4-F767-FBFF27E3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0872"/>
            <a:ext cx="10515600" cy="1325563"/>
          </a:xfrm>
        </p:spPr>
        <p:txBody>
          <a:bodyPr/>
          <a:lstStyle/>
          <a:p>
            <a:r>
              <a:rPr lang="en-US" dirty="0"/>
              <a:t>Introducing to LR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BEE6C-537A-A033-9B61-07DE8C5E6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4910"/>
            <a:ext cx="10515600" cy="291999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LR parsing: Left-to-right, bottom-up parsing technique</a:t>
            </a:r>
          </a:p>
          <a:p>
            <a:pPr>
              <a:lnSpc>
                <a:spcPct val="150000"/>
              </a:lnSpc>
            </a:pPr>
            <a:r>
              <a:rPr lang="en-US" dirty="0"/>
              <a:t>Used in compiler design for syntax analysis</a:t>
            </a:r>
          </a:p>
          <a:p>
            <a:pPr>
              <a:lnSpc>
                <a:spcPct val="150000"/>
              </a:lnSpc>
              <a:tabLst>
                <a:tab pos="6111875" algn="l"/>
              </a:tabLst>
            </a:pPr>
            <a:r>
              <a:rPr lang="en-US" dirty="0"/>
              <a:t>Can recognize a large class of context-free grammars</a:t>
            </a:r>
          </a:p>
          <a:p>
            <a:pPr>
              <a:lnSpc>
                <a:spcPct val="150000"/>
              </a:lnSpc>
            </a:pPr>
            <a:r>
              <a:rPr lang="en-US" dirty="0"/>
              <a:t>Efficient and table-driven (uses ACTION/GOTO tables)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08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00D7-60F4-E757-9917-B48BE27D8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of LR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44936-EC99-C282-2CD3-C5664B094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8956"/>
            <a:ext cx="10515600" cy="31977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Stack</a:t>
            </a:r>
            <a:r>
              <a:rPr lang="en-US" dirty="0"/>
              <a:t>: Stores grammar symbols and parser states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Input buffer: </a:t>
            </a:r>
            <a:r>
              <a:rPr lang="en-US" dirty="0"/>
              <a:t>Holds input string with end marker $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ACTION table: </a:t>
            </a:r>
            <a:r>
              <a:rPr lang="en-US" dirty="0"/>
              <a:t>Guides shift, reduce, accept, or error decisions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GOTO table: </a:t>
            </a:r>
            <a:r>
              <a:rPr lang="en-US" dirty="0"/>
              <a:t>Selects a new state after a reduction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41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2D66-DD46-AB74-1A00-5ED2ACE8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ACTION/GOTO Table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BBC50-65E8-D33F-AB78-D117FE265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239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ACTION[state, input symbol]: </a:t>
            </a:r>
            <a:r>
              <a:rPr lang="en-US" dirty="0"/>
              <a:t>tells parser to shift, reduce, accept, or error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GOTO[state, nonterminal]: </a:t>
            </a:r>
            <a:r>
              <a:rPr lang="en-US" dirty="0"/>
              <a:t>tells which state to move to after reducing</a:t>
            </a:r>
          </a:p>
          <a:p>
            <a:pPr>
              <a:lnSpc>
                <a:spcPct val="150000"/>
              </a:lnSpc>
            </a:pPr>
            <a:r>
              <a:rPr lang="en-US" dirty="0"/>
              <a:t>Tables constructed from the grammar and LR items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1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F2B7-4300-EBE8-2168-D536CAE9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 Parsing Algorithm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BB068-A6EC-4EBB-15C6-33DEE8418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Question: Construct an LR parsing table for the given context-free grammar. Parse the input by creating the stack table.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              </a:t>
            </a:r>
            <a:r>
              <a:rPr lang="en-US" b="1" dirty="0"/>
              <a:t>S--&gt;AA</a:t>
            </a:r>
            <a:br>
              <a:rPr lang="en-US" dirty="0"/>
            </a:br>
            <a:r>
              <a:rPr lang="en-US" b="1" dirty="0"/>
              <a:t>              A--&gt;</a:t>
            </a:r>
            <a:r>
              <a:rPr lang="en-US" b="1" dirty="0" err="1"/>
              <a:t>aA|b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6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F415-F0A7-D366-FFE0-CCFDC20A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1: Find augmented grammar and number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3F541-839B-22B1-3814-2A9358E58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S'--&gt;.S      [0th production]</a:t>
            </a:r>
            <a:br>
              <a:rPr lang="en-US" dirty="0"/>
            </a:br>
            <a:r>
              <a:rPr lang="en-US" dirty="0"/>
              <a:t>      S--&gt;.AA    [1st production]</a:t>
            </a:r>
            <a:br>
              <a:rPr lang="en-US" dirty="0"/>
            </a:br>
            <a:r>
              <a:rPr lang="en-US" dirty="0"/>
              <a:t>      A--&gt;.</a:t>
            </a:r>
            <a:r>
              <a:rPr lang="en-US" dirty="0" err="1"/>
              <a:t>aA</a:t>
            </a:r>
            <a:r>
              <a:rPr lang="en-US" dirty="0"/>
              <a:t>    [2nd production]</a:t>
            </a:r>
            <a:br>
              <a:rPr lang="en-US" dirty="0"/>
            </a:br>
            <a:r>
              <a:rPr lang="en-US" dirty="0"/>
              <a:t>      A--&gt;.b      [3rd production]</a:t>
            </a:r>
          </a:p>
        </p:txBody>
      </p:sp>
    </p:spTree>
    <p:extLst>
      <p:ext uri="{BB962C8B-B14F-4D97-AF65-F5344CB8AC3E}">
        <p14:creationId xmlns:p14="http://schemas.microsoft.com/office/powerpoint/2010/main" val="3014595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9675-5DE9-2DFE-6BEB-410C35D05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DB488-2158-0028-63B7-F1B500EA6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483"/>
            <a:ext cx="10515600" cy="1116434"/>
          </a:xfrm>
        </p:spPr>
        <p:txBody>
          <a:bodyPr>
            <a:normAutofit/>
          </a:bodyPr>
          <a:lstStyle/>
          <a:p>
            <a:r>
              <a:rPr lang="en-US" sz="3200" dirty="0"/>
              <a:t>Step 2: Find the LR collection of items or the DFA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74CD04-B365-0119-50E7-68A1A10654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969" y="799451"/>
            <a:ext cx="7475834" cy="605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17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0B17-681F-A64B-926B-AF87AEA5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DBD5-FEBD-DAF5-6320-2999D580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6689"/>
            <a:ext cx="10515600" cy="1116434"/>
          </a:xfrm>
        </p:spPr>
        <p:txBody>
          <a:bodyPr>
            <a:normAutofit/>
          </a:bodyPr>
          <a:lstStyle/>
          <a:p>
            <a:r>
              <a:rPr lang="en-US" sz="3200" dirty="0"/>
              <a:t>Step 3: Parsing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BDFBB-CF82-40B8-045C-27229291C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1AC780-B570-1AA7-6623-80D6CA66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07" y="1408936"/>
            <a:ext cx="11176586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67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D7D2-725F-F53A-88DB-9BEAB898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0E864-ECEE-D765-D9A5-1938DABF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919"/>
            <a:ext cx="10515600" cy="1116434"/>
          </a:xfrm>
        </p:spPr>
        <p:txBody>
          <a:bodyPr>
            <a:normAutofit/>
          </a:bodyPr>
          <a:lstStyle/>
          <a:p>
            <a:r>
              <a:rPr lang="en-US" sz="3200" dirty="0"/>
              <a:t>Step 4: Stack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9C41-0824-24E8-5E21-F8F50FF1A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979EAE-F3C5-7480-CB43-EA6349A9C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9" y="1221770"/>
            <a:ext cx="8377659" cy="561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42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011A-9B49-210D-974F-A216AABA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CDD7-BF10-7DB6-3627-D1B19D86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0"/>
            <a:ext cx="10515600" cy="1116434"/>
          </a:xfrm>
        </p:spPr>
        <p:txBody>
          <a:bodyPr>
            <a:normAutofit/>
          </a:bodyPr>
          <a:lstStyle/>
          <a:p>
            <a:r>
              <a:rPr lang="en-US" sz="3200" dirty="0"/>
              <a:t>Step 5: Parse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A94D4-E30C-1521-7B3F-3E33D7B71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EF259-F228-90C2-2C43-B82DD84D1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06" r="23521" b="10979"/>
          <a:stretch>
            <a:fillRect/>
          </a:stretch>
        </p:blipFill>
        <p:spPr>
          <a:xfrm>
            <a:off x="1469447" y="1145894"/>
            <a:ext cx="7330565" cy="558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64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817C-E9D1-9882-3DF3-FD713B4B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9077-8CCD-4A20-AC69-2D006895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0"/>
            <a:ext cx="10515600" cy="1116434"/>
          </a:xfrm>
        </p:spPr>
        <p:txBody>
          <a:bodyPr>
            <a:normAutofit/>
          </a:bodyPr>
          <a:lstStyle/>
          <a:p>
            <a:r>
              <a:rPr lang="en-US" sz="3200" dirty="0"/>
              <a:t>Practice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4D144-DFDC-A6CF-E73D-B9B066BC6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Question: Construct an LR parsing table for the given context-free grammar. Parse the input by creating the stack table.</a:t>
            </a:r>
          </a:p>
          <a:p>
            <a:pPr marL="0" indent="0" fontAlgn="base">
              <a:buNone/>
            </a:pPr>
            <a:r>
              <a:rPr lang="en-US" b="1" dirty="0"/>
              <a:t>Grammar:</a:t>
            </a:r>
          </a:p>
          <a:p>
            <a:pPr marL="0" indent="0" fontAlgn="base">
              <a:buNone/>
            </a:pPr>
            <a:r>
              <a:rPr lang="en-US" dirty="0"/>
              <a:t>              </a:t>
            </a:r>
            <a:r>
              <a:rPr lang="en-US" b="1" dirty="0"/>
              <a:t>E--&gt;BB</a:t>
            </a:r>
            <a:br>
              <a:rPr lang="en-US" dirty="0"/>
            </a:br>
            <a:r>
              <a:rPr lang="en-US" b="1" dirty="0"/>
              <a:t>              B--&gt;</a:t>
            </a:r>
            <a:r>
              <a:rPr lang="en-US" b="1" dirty="0" err="1"/>
              <a:t>cB|d</a:t>
            </a: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r>
              <a:rPr lang="en-US" b="1" dirty="0"/>
              <a:t>Input String:  </a:t>
            </a:r>
            <a:r>
              <a:rPr lang="en-US" b="1" dirty="0" err="1"/>
              <a:t>ccdd</a:t>
            </a:r>
            <a:r>
              <a:rPr lang="en-US" b="1" dirty="0"/>
              <a:t>$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70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AE22E-4EC1-C031-EA23-CD52D982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13448-9D08-F5C6-1FC2-403F7E516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</a:t>
            </a:r>
            <a:r>
              <a:rPr lang="en-US" sz="3600" b="1" dirty="0"/>
              <a:t>Thank You……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232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290</Words>
  <Application>Microsoft Office PowerPoint</Application>
  <PresentationFormat>Widescreen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LR Parsing Algorithm</vt:lpstr>
      <vt:lpstr>Introducing to LR Parsing</vt:lpstr>
      <vt:lpstr>Key Concepts of LR Parsing</vt:lpstr>
      <vt:lpstr> ACTION/GOTO Table Overview</vt:lpstr>
      <vt:lpstr>LR Parsing Algorithm Steps</vt:lpstr>
      <vt:lpstr>Step 1: Find augmented grammar and number it</vt:lpstr>
      <vt:lpstr>Step 2: Find the LR collection of items or the DFA Diagram</vt:lpstr>
      <vt:lpstr>Step 3: Parsing Table</vt:lpstr>
      <vt:lpstr>Step 4: Stack Implementation </vt:lpstr>
      <vt:lpstr>Step 5: Parse Tree</vt:lpstr>
      <vt:lpstr>Practice Problem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Hanseeka Hanseeka</dc:creator>
  <cp:lastModifiedBy>Hanseeka Hanseeka</cp:lastModifiedBy>
  <cp:revision>3</cp:revision>
  <dcterms:created xsi:type="dcterms:W3CDTF">2025-11-20T05:00:46Z</dcterms:created>
  <dcterms:modified xsi:type="dcterms:W3CDTF">2026-01-29T18:13:22Z</dcterms:modified>
</cp:coreProperties>
</file>